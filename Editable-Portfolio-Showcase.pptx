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792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Bunniey/Global-Superstore-Tableau-Story-Analytics/blob/main/GlobalSuperstore.xls" TargetMode="External"/><Relationship Id="rId5" Type="http://schemas.openxmlformats.org/officeDocument/2006/relationships/hyperlink" Target="https://public.tableau.com/views/GlobalSuper_store_black_theme_new/Story1" TargetMode="External"/><Relationship Id="rId4" Type="http://schemas.openxmlformats.org/officeDocument/2006/relationships/hyperlink" Target="https://github.com/Bunniey/Global-Superstore-Tableau-Story-Analyti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77724"/>
          </a:xfrm>
          <a:prstGeom prst="rect">
            <a:avLst/>
          </a:prstGeom>
          <a:solidFill>
            <a:srgbClr val="B7F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82296" cy="256032"/>
          </a:xfrm>
          <a:prstGeom prst="rect">
            <a:avLst/>
          </a:prstGeom>
          <a:solidFill>
            <a:srgbClr val="B7F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" y="384048"/>
            <a:ext cx="7315200" cy="292608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F434"/>
                </a:solidFill>
                <a:latin typeface="DejaVu Sans"/>
              </a:rPr>
              <a:t>BUSINESS ANALYST   /   PORTFOLIO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22376"/>
            <a:ext cx="10241280" cy="621792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3F7FB"/>
                </a:solidFill>
                <a:latin typeface="DejaVu Sans"/>
              </a:rPr>
              <a:t>GLOBAL SUPERSTORE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362456"/>
            <a:ext cx="11430000" cy="384048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3ABBA"/>
                </a:solidFill>
                <a:latin typeface="DejaVu Sans"/>
              </a:rPr>
              <a:t>PERFORMANCE  /  CUSTOMER COHORTS  /  SHIPPING 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85448" y="594360"/>
            <a:ext cx="2496312" cy="594360"/>
          </a:xfrm>
          <a:prstGeom prst="roundRect">
            <a:avLst>
              <a:gd name="adj" fmla="val 12000"/>
            </a:avLst>
          </a:prstGeom>
          <a:solidFill>
            <a:srgbClr val="15171E"/>
          </a:solidFill>
          <a:ln w="12700">
            <a:solidFill>
              <a:srgbClr val="393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40896" y="713232"/>
            <a:ext cx="2157984" cy="27432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7FB"/>
                </a:solidFill>
                <a:latin typeface="DejaVu Sans"/>
              </a:rPr>
              <a:t>2011–2014  •  TABLEAU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93392"/>
            <a:ext cx="6656832" cy="4114800"/>
          </a:xfrm>
          <a:prstGeom prst="roundRect">
            <a:avLst>
              <a:gd name="adj" fmla="val 12000"/>
            </a:avLst>
          </a:prstGeom>
          <a:solidFill>
            <a:srgbClr val="15171E"/>
          </a:solidFill>
          <a:ln w="12700">
            <a:solidFill>
              <a:srgbClr val="393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52360" y="1993392"/>
            <a:ext cx="6656832" cy="4114800"/>
          </a:xfrm>
          <a:prstGeom prst="roundRect">
            <a:avLst>
              <a:gd name="adj" fmla="val 12000"/>
            </a:avLst>
          </a:prstGeom>
          <a:solidFill>
            <a:srgbClr val="15171E"/>
          </a:solidFill>
          <a:ln w="12700">
            <a:solidFill>
              <a:srgbClr val="393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2103120"/>
            <a:ext cx="6400800" cy="27432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7F434"/>
                </a:solidFill>
                <a:latin typeface="DejaVu Sans"/>
              </a:rPr>
              <a:t>01   GLOBAL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0375" y="2103120"/>
            <a:ext cx="6400800" cy="27432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DC9FA"/>
                </a:solidFill>
                <a:latin typeface="DejaVu Sans"/>
              </a:rPr>
              <a:t>02   CATEGORY  →  SEGMENT  →  SHIPPING</a:t>
            </a:r>
          </a:p>
        </p:txBody>
      </p:sp>
      <p:pic>
        <p:nvPicPr>
          <p:cNvPr id="13" name="Picture 12" descr="Dashboard-1-Global-Performance.png"/>
          <p:cNvPicPr>
            <a:picLocks noChangeAspect="1"/>
          </p:cNvPicPr>
          <p:nvPr/>
        </p:nvPicPr>
        <p:blipFill>
          <a:blip r:embed="rId2"/>
          <a:srcRect l="918" t="686" r="678" b="1061"/>
          <a:stretch>
            <a:fillRect/>
          </a:stretch>
        </p:blipFill>
        <p:spPr>
          <a:xfrm>
            <a:off x="1112521" y="2556533"/>
            <a:ext cx="5450840" cy="3387068"/>
          </a:xfrm>
          <a:prstGeom prst="roundRect">
            <a:avLst/>
          </a:prstGeom>
        </p:spPr>
      </p:pic>
      <p:pic>
        <p:nvPicPr>
          <p:cNvPr id="14" name="Picture 13" descr="Dashboard-2-Category-Segment-Shipping-Flow.png"/>
          <p:cNvPicPr>
            <a:picLocks noChangeAspect="1"/>
          </p:cNvPicPr>
          <p:nvPr/>
        </p:nvPicPr>
        <p:blipFill>
          <a:blip r:embed="rId3"/>
          <a:srcRect l="747" t="1724" r="747" b="1061"/>
          <a:stretch>
            <a:fillRect/>
          </a:stretch>
        </p:blipFill>
        <p:spPr>
          <a:xfrm>
            <a:off x="7900416" y="2592324"/>
            <a:ext cx="5760720" cy="3351277"/>
          </a:xfrm>
          <a:prstGeom prst="round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263640"/>
            <a:ext cx="6519672" cy="493776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F3F7FB"/>
                </a:solidFill>
                <a:latin typeface="DejaVu Sans"/>
              </a:rPr>
              <a:t>Country filtering • Category KPIs • Profit/Shipping scatter • Quarterly cohorts • Segment trends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6342148"/>
            <a:ext cx="6592824" cy="336759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dirty="0">
                <a:solidFill>
                  <a:srgbClr val="F3F7FB"/>
                </a:solidFill>
                <a:latin typeface="DejaVu Sans"/>
              </a:rPr>
              <a:t>Two Sankey views: commercial measure per shipping cost and order volumes across category, segment </a:t>
            </a:r>
            <a:r>
              <a:rPr lang="en-US" sz="1019" dirty="0">
                <a:solidFill>
                  <a:srgbClr val="F3F7FB"/>
                </a:solidFill>
                <a:latin typeface="DejaVu Sans"/>
              </a:rPr>
              <a:t>and shipping </a:t>
            </a:r>
            <a:r>
              <a:rPr sz="1019" b="0" dirty="0">
                <a:solidFill>
                  <a:srgbClr val="F3F7FB"/>
                </a:solidFill>
                <a:latin typeface="DejaVu Sans"/>
              </a:rPr>
              <a:t>mode.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858000"/>
            <a:ext cx="13597128" cy="15544"/>
          </a:xfrm>
          <a:prstGeom prst="rect">
            <a:avLst/>
          </a:prstGeom>
          <a:solidFill>
            <a:srgbClr val="393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hlinkClick r:id="rId4"/>
          </p:cNvPr>
          <p:cNvSpPr/>
          <p:nvPr/>
        </p:nvSpPr>
        <p:spPr>
          <a:xfrm>
            <a:off x="502920" y="7104888"/>
            <a:ext cx="4572000" cy="621792"/>
          </a:xfrm>
          <a:prstGeom prst="roundRect">
            <a:avLst>
              <a:gd name="adj" fmla="val 12000"/>
            </a:avLst>
          </a:prstGeom>
          <a:solidFill>
            <a:srgbClr val="B7F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hlinkClick r:id="rId4"/>
          </p:cNvPr>
          <p:cNvSpPr txBox="1"/>
          <p:nvPr/>
        </p:nvSpPr>
        <p:spPr>
          <a:xfrm>
            <a:off x="667512" y="7223759"/>
            <a:ext cx="4242816" cy="32004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0E13"/>
                </a:solidFill>
                <a:latin typeface="DejaVu Sans"/>
              </a:rPr>
              <a:t>EXPLORE GITHUB CASE STUDY</a:t>
            </a:r>
          </a:p>
        </p:txBody>
      </p:sp>
      <p:sp>
        <p:nvSpPr>
          <p:cNvPr id="20" name="Rounded Rectangle 19">
            <a:hlinkClick r:id="rId5"/>
          </p:cNvPr>
          <p:cNvSpPr/>
          <p:nvPr/>
        </p:nvSpPr>
        <p:spPr>
          <a:xfrm>
            <a:off x="5257800" y="7104888"/>
            <a:ext cx="4572000" cy="621792"/>
          </a:xfrm>
          <a:prstGeom prst="roundRect">
            <a:avLst>
              <a:gd name="adj" fmla="val 12000"/>
            </a:avLst>
          </a:prstGeom>
          <a:solidFill>
            <a:srgbClr val="2DC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hlinkClick r:id="rId5"/>
          </p:cNvPr>
          <p:cNvSpPr txBox="1"/>
          <p:nvPr/>
        </p:nvSpPr>
        <p:spPr>
          <a:xfrm>
            <a:off x="5422392" y="7223759"/>
            <a:ext cx="4242816" cy="32004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0E13"/>
                </a:solidFill>
                <a:latin typeface="DejaVu Sans"/>
              </a:rPr>
              <a:t>OPEN LIVE TABLEAU STORY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10003536" y="7104888"/>
            <a:ext cx="4105656" cy="621792"/>
          </a:xfrm>
          <a:prstGeom prst="roundRect">
            <a:avLst>
              <a:gd name="adj" fmla="val 12000"/>
            </a:avLst>
          </a:prstGeom>
          <a:solidFill>
            <a:srgbClr val="CF4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hlinkClick r:id="rId6"/>
          </p:cNvPr>
          <p:cNvSpPr txBox="1"/>
          <p:nvPr/>
        </p:nvSpPr>
        <p:spPr>
          <a:xfrm>
            <a:off x="10168128" y="7223759"/>
            <a:ext cx="3776472" cy="320040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F7FB"/>
                </a:solidFill>
                <a:latin typeface="DejaVu Sans"/>
              </a:rPr>
              <a:t>ACCESS RAW EXCEL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7872983"/>
            <a:ext cx="13624560" cy="201168"/>
          </a:xfrm>
          <a:prstGeom prst="rect">
            <a:avLst/>
          </a:prstGeom>
          <a:noFill/>
        </p:spPr>
        <p:txBody>
          <a:bodyPr wrap="square" lIns="18288" tIns="13716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3ABBA"/>
                </a:solidFill>
                <a:latin typeface="DejaVu Sans"/>
              </a:rPr>
              <a:t>From executive performance monitoring to customer behavior and operational flow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86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DejaVu Sans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SAKSHAM CHAUHAN</cp:lastModifiedBy>
  <cp:revision>2</cp:revision>
  <dcterms:created xsi:type="dcterms:W3CDTF">2013-01-27T09:14:16Z</dcterms:created>
  <dcterms:modified xsi:type="dcterms:W3CDTF">2026-10-19T16:38:08Z</dcterms:modified>
  <cp:category/>
</cp:coreProperties>
</file>
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github.com/Bunniey/Global-Superstore-Tableau-Story-Analytics" TargetMode="External"/><Relationship Id="rId5" Type="http://schemas.openxmlformats.org/officeDocument/2006/relationships/hyperlink" Target="https://public.tableau.com/views/GlobalSuper_store_black_theme_new/Story1" TargetMode="External"/><Relationship Id="rId6" Type="http://schemas.openxmlformats.org/officeDocument/2006/relationships/hyperlink" Target="https://github.com/Bunniey/Global-Superstore-Tableau-Story-Analytics/blob/main/GlobalSuperstore.x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"/>
          </a:xfrm>
          <a:prstGeom prst="rect">
            <a:avLst/>
          </a:prstGeom>
          <a:solidFill>
            <a:srgbClr val="B7F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256032"/>
          </a:xfrm>
          <a:prstGeom prst="rect">
            <a:avLst/>
          </a:prstGeom>
          <a:solidFill>
            <a:srgbClr val="B7F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84048"/>
            <a:ext cx="7315200" cy="292608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7F434"/>
                </a:solidFill>
                <a:latin typeface="DejaVu Sans"/>
              </a:rPr>
              <a:t>BUSINESS ANALYST   /   PORTFOLIO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0241280" cy="621792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7FB"/>
                </a:solidFill>
                <a:latin typeface="DejaVu Sans"/>
              </a:rPr>
              <a:t>GLOBAL SUPERSTORE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362456"/>
            <a:ext cx="11430000" cy="384048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ABBA"/>
                </a:solidFill>
                <a:latin typeface="DejaVu Sans"/>
              </a:rPr>
              <a:t>PERFORMANCE  /  CUSTOMER COHORTS  /  SHIPPING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5448" y="594360"/>
            <a:ext cx="2496312" cy="594360"/>
          </a:xfrm>
          <a:prstGeom prst="roundRect">
            <a:avLst>
              <a:gd name="adj" fmla="val 12000"/>
            </a:avLst>
          </a:prstGeom>
          <a:solidFill>
            <a:srgbClr val="15171E"/>
          </a:solidFill>
          <a:ln w="12700">
            <a:solidFill>
              <a:srgbClr val="39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40896" y="713232"/>
            <a:ext cx="2157984" cy="274320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7FB"/>
                </a:solidFill>
                <a:latin typeface="DejaVu Sans"/>
              </a:rPr>
              <a:t>2011–2014  •  TABLEAU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6656832" cy="4114800"/>
          </a:xfrm>
          <a:prstGeom prst="roundRect">
            <a:avLst>
              <a:gd name="adj" fmla="val 12000"/>
            </a:avLst>
          </a:prstGeom>
          <a:solidFill>
            <a:srgbClr val="15171E"/>
          </a:solidFill>
          <a:ln w="12700">
            <a:solidFill>
              <a:srgbClr val="39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1993392"/>
            <a:ext cx="6656832" cy="4114800"/>
          </a:xfrm>
          <a:prstGeom prst="roundRect">
            <a:avLst>
              <a:gd name="adj" fmla="val 12000"/>
            </a:avLst>
          </a:prstGeom>
          <a:solidFill>
            <a:srgbClr val="15171E"/>
          </a:solidFill>
          <a:ln w="12700">
            <a:solidFill>
              <a:srgbClr val="39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031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7F434"/>
                </a:solidFill>
                <a:latin typeface="DejaVu Sans"/>
              </a:rPr>
              <a:t>01   GLOBAL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0375" y="21031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DC9FA"/>
                </a:solidFill>
                <a:latin typeface="DejaVu Sans"/>
              </a:rPr>
              <a:t>02   CATEGORY  →  SEGMENT  →  SHIPPING</a:t>
            </a:r>
          </a:p>
        </p:txBody>
      </p:sp>
      <p:pic>
        <p:nvPicPr>
          <p:cNvPr id="13" name="Picture 12" descr="Dashboard-1-Global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34" y="2532888"/>
            <a:ext cx="5539203" cy="3447288"/>
          </a:xfrm>
          <a:prstGeom prst="rect">
            <a:avLst/>
          </a:prstGeom>
        </p:spPr>
      </p:pic>
      <p:pic>
        <p:nvPicPr>
          <p:cNvPr id="14" name="Picture 13" descr="Dashboard-2-Category-Segment-Shipping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737" y="2532888"/>
            <a:ext cx="5848077" cy="34472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263640"/>
            <a:ext cx="6519672" cy="493776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3F7FB"/>
                </a:solidFill>
                <a:latin typeface="DejaVu Sans"/>
              </a:rPr>
              <a:t>Country filtering • Category KPIs • Profit/Shipping scatter • Quarterly cohorts • Segment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6263640"/>
            <a:ext cx="6592824" cy="493776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3F7FB"/>
                </a:solidFill>
                <a:latin typeface="DejaVu Sans"/>
              </a:rPr>
              <a:t>Two Sankey views: commercial measure per shipping cost and order volumes across category, segment &amp; mode.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858000"/>
            <a:ext cx="13597128" cy="15544"/>
          </a:xfrm>
          <a:prstGeom prst="rect">
            <a:avLst/>
          </a:prstGeom>
          <a:solidFill>
            <a:srgbClr val="39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502920" y="7104888"/>
            <a:ext cx="4572000" cy="621792"/>
          </a:xfrm>
          <a:prstGeom prst="roundRect">
            <a:avLst>
              <a:gd name="adj" fmla="val 12000"/>
            </a:avLst>
          </a:prstGeom>
          <a:solidFill>
            <a:srgbClr val="B7F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r:id="rId4"/>
          </p:cNvPr>
          <p:cNvSpPr txBox="1"/>
          <p:nvPr/>
        </p:nvSpPr>
        <p:spPr>
          <a:xfrm>
            <a:off x="667512" y="7223759"/>
            <a:ext cx="4242816" cy="320040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0E13"/>
                </a:solidFill>
                <a:latin typeface="DejaVu Sans"/>
              </a:rPr>
              <a:t>EXPLORE GITHUB CASE STUDY</a:t>
            </a: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5257800" y="7104888"/>
            <a:ext cx="4572000" cy="621792"/>
          </a:xfrm>
          <a:prstGeom prst="roundRect">
            <a:avLst>
              <a:gd name="adj" fmla="val 12000"/>
            </a:avLst>
          </a:prstGeom>
          <a:solidFill>
            <a:srgbClr val="2DC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r:id="rId5"/>
          </p:cNvPr>
          <p:cNvSpPr txBox="1"/>
          <p:nvPr/>
        </p:nvSpPr>
        <p:spPr>
          <a:xfrm>
            <a:off x="5422392" y="7223759"/>
            <a:ext cx="4242816" cy="320040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0E13"/>
                </a:solidFill>
                <a:latin typeface="DejaVu Sans"/>
              </a:rPr>
              <a:t>OPEN LIVE TABLEAU STORY</a:t>
            </a:r>
          </a:p>
        </p:txBody>
      </p:sp>
      <p:sp>
        <p:nvSpPr>
          <p:cNvPr id="22" name="Rounded Rectangle 21">
            <a:hlinkClick r:id="rId6"/>
          </p:cNvPr>
          <p:cNvSpPr/>
          <p:nvPr/>
        </p:nvSpPr>
        <p:spPr>
          <a:xfrm>
            <a:off x="10003536" y="7104888"/>
            <a:ext cx="4105656" cy="621792"/>
          </a:xfrm>
          <a:prstGeom prst="roundRect">
            <a:avLst>
              <a:gd name="adj" fmla="val 12000"/>
            </a:avLst>
          </a:prstGeom>
          <a:solidFill>
            <a:srgbClr val="CF4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r:id="rId6"/>
          </p:cNvPr>
          <p:cNvSpPr txBox="1"/>
          <p:nvPr/>
        </p:nvSpPr>
        <p:spPr>
          <a:xfrm>
            <a:off x="10168128" y="7223759"/>
            <a:ext cx="3776472" cy="320040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7FB"/>
                </a:solidFill>
                <a:latin typeface="DejaVu Sans"/>
              </a:rPr>
              <a:t>ACCESS RAW EXCEL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7872983"/>
            <a:ext cx="13624560" cy="201168"/>
          </a:xfrm>
          <a:prstGeom prst="rect">
            <a:avLst/>
          </a:prstGeom>
          <a:noFill/>
        </p:spPr>
        <p:txBody>
          <a:bodyPr wrap="square" lIns="18288" rIns="18288" tIns="13716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3ABBA"/>
                </a:solidFill>
                <a:latin typeface="DejaVu Sans"/>
              </a:rPr>
              <a:t>From executive performance monitoring to customer behavior and operational flow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